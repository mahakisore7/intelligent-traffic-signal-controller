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9" r:id="rId2"/>
    <p:sldId id="257" r:id="rId3"/>
    <p:sldId id="258" r:id="rId4"/>
    <p:sldId id="266" r:id="rId5"/>
    <p:sldId id="268" r:id="rId6"/>
    <p:sldId id="261" r:id="rId7"/>
    <p:sldId id="267" r:id="rId8"/>
    <p:sldId id="262" r:id="rId9"/>
    <p:sldId id="265" r:id="rId10"/>
    <p:sldId id="270" r:id="rId11"/>
  </p:sldIdLst>
  <p:sldSz cx="14630400" cy="8229600"/>
  <p:notesSz cx="8229600" cy="14630400"/>
  <p:embeddedFontLst>
    <p:embeddedFont>
      <p:font typeface="Arial Black" panose="020B0A04020102020204" pitchFamily="34" charset="0"/>
      <p:bold r:id="rId13"/>
    </p:embeddedFont>
    <p:embeddedFont>
      <p:font typeface="Platypi Medium" panose="020B0604020202020204" charset="0"/>
      <p:regular r:id="rId14"/>
    </p:embeddedFont>
    <p:embeddedFont>
      <p:font typeface="Sitka Display" pitchFamily="2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83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E3D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F3071F-CC3E-FE7E-C683-9C12414F4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382" y="7686675"/>
            <a:ext cx="1809750" cy="54292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9EDBF56-E83E-9B99-5162-0721289A6096}"/>
              </a:ext>
            </a:extLst>
          </p:cNvPr>
          <p:cNvSpPr/>
          <p:nvPr/>
        </p:nvSpPr>
        <p:spPr>
          <a:xfrm>
            <a:off x="793788" y="269724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endParaRPr lang="en-US" sz="4450" b="1" dirty="0">
              <a:latin typeface="Arial Black" panose="020B0A04020102020204" pitchFamily="34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8E871F3-6B29-DE9B-CAF9-5957428287A6}"/>
              </a:ext>
            </a:extLst>
          </p:cNvPr>
          <p:cNvSpPr/>
          <p:nvPr/>
        </p:nvSpPr>
        <p:spPr>
          <a:xfrm>
            <a:off x="793789" y="99141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550"/>
              </a:lnSpc>
            </a:pPr>
            <a:endParaRPr lang="en-US" sz="4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33052-115B-313C-AC06-D198F912082E}"/>
              </a:ext>
            </a:extLst>
          </p:cNvPr>
          <p:cNvSpPr txBox="1"/>
          <p:nvPr/>
        </p:nvSpPr>
        <p:spPr>
          <a:xfrm>
            <a:off x="7135895" y="5626210"/>
            <a:ext cx="7400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3CC29-10FA-8384-4AA8-D22FF5DCDB5A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550"/>
              </a:lnSpc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5ADEC-D6A9-4C6F-B710-50A691E8D33F}"/>
              </a:ext>
            </a:extLst>
          </p:cNvPr>
          <p:cNvSpPr txBox="1"/>
          <p:nvPr/>
        </p:nvSpPr>
        <p:spPr>
          <a:xfrm>
            <a:off x="3560323" y="642768"/>
            <a:ext cx="85408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22AIE201 – FUNDAMENTALS OF AI</a:t>
            </a: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endParaRPr lang="en-IN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F827C-C30D-4527-3BFE-2FC3AC68CA87}"/>
              </a:ext>
            </a:extLst>
          </p:cNvPr>
          <p:cNvSpPr txBox="1"/>
          <p:nvPr/>
        </p:nvSpPr>
        <p:spPr>
          <a:xfrm>
            <a:off x="2220510" y="2093202"/>
            <a:ext cx="105058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rial Black" panose="020B0A04020102020204" pitchFamily="34" charset="0"/>
              </a:rPr>
              <a:t>INTELLIGENT TRAFFIC SIGNAL CONTROLLER</a:t>
            </a:r>
            <a:endParaRPr lang="en-IN" sz="4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FBB0E-30E2-1CC5-A714-B9DC0731F079}"/>
              </a:ext>
            </a:extLst>
          </p:cNvPr>
          <p:cNvSpPr txBox="1"/>
          <p:nvPr/>
        </p:nvSpPr>
        <p:spPr>
          <a:xfrm>
            <a:off x="321012" y="5326746"/>
            <a:ext cx="56906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 -11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TEAM MEMBERS:</a:t>
            </a:r>
          </a:p>
          <a:p>
            <a:r>
              <a:rPr lang="en-US" dirty="0">
                <a:solidFill>
                  <a:schemeClr val="bg1"/>
                </a:solidFill>
              </a:rPr>
              <a:t>      HEMANTH S N                       -CB.SC.U4AIE24321</a:t>
            </a:r>
          </a:p>
          <a:p>
            <a:r>
              <a:rPr lang="en-US" dirty="0">
                <a:solidFill>
                  <a:schemeClr val="bg1"/>
                </a:solidFill>
              </a:rPr>
              <a:t>      JASWANTH SARAVANAN      -CB.SC.U4AIE24324</a:t>
            </a:r>
          </a:p>
          <a:p>
            <a:r>
              <a:rPr lang="en-US" dirty="0">
                <a:solidFill>
                  <a:schemeClr val="bg1"/>
                </a:solidFill>
              </a:rPr>
              <a:t>      MAHAKISORE M                    -CB.SC.U4AIE24333</a:t>
            </a:r>
          </a:p>
          <a:p>
            <a:r>
              <a:rPr lang="en-US" dirty="0">
                <a:solidFill>
                  <a:schemeClr val="bg1"/>
                </a:solidFill>
              </a:rPr>
              <a:t>      YASHWANTH B                       -CB.SC.U4AIE24360</a:t>
            </a:r>
          </a:p>
        </p:txBody>
      </p:sp>
    </p:spTree>
    <p:extLst>
      <p:ext uri="{BB962C8B-B14F-4D97-AF65-F5344CB8AC3E}">
        <p14:creationId xmlns:p14="http://schemas.microsoft.com/office/powerpoint/2010/main" val="3069198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309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216818" y="2745628"/>
            <a:ext cx="8898903" cy="740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Traffic congestion is a major urban problem, leading to delays and increased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     emissions.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16818" y="3596349"/>
            <a:ext cx="8898903" cy="51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Traditional traffic lights operate on fixed timings, which are inefficient and cannot adapt to dynamic traffic fluctuations.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16818" y="4526214"/>
            <a:ext cx="8898903" cy="81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There is a critical need for adaptive traffic control systems that respond in real-time to current traffic conditions, optimizing flow and minimizing congestion.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2CF28B-DB71-4472-5FCF-6927D7449116}"/>
              </a:ext>
            </a:extLst>
          </p:cNvPr>
          <p:cNvSpPr/>
          <p:nvPr/>
        </p:nvSpPr>
        <p:spPr>
          <a:xfrm>
            <a:off x="12820454" y="7682845"/>
            <a:ext cx="1809946" cy="546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pic>
        <p:nvPicPr>
          <p:cNvPr id="2052" name="Picture 4" descr="Using deep learning to improve traffic signal performance | Penn State  University">
            <a:extLst>
              <a:ext uri="{FF2B5EF4-FFF2-40B4-BE49-F238E27FC236}">
                <a16:creationId xmlns:a16="http://schemas.microsoft.com/office/drawing/2014/main" id="{BFB32C15-210A-B688-77BE-80EBCFA8E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9157" y="2224724"/>
            <a:ext cx="5354425" cy="401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387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97026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To design and implement a Q-learning-based traffic light controller capable of real-time adaptation.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635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To implement a heuristic model, specifically Longest Queue First (LQF), to serve as a comparative baseline.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3561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To utilize SUMO (Simulation of Urban MObility) to create and simulate a realistic traffic environment.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0486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To conduct a comprehensive performance comparison of the developed adaptive controllers against traditional fixed-time signal systems.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AB8FA-8AED-F93D-0D9E-432D74EA4C57}"/>
              </a:ext>
            </a:extLst>
          </p:cNvPr>
          <p:cNvSpPr/>
          <p:nvPr/>
        </p:nvSpPr>
        <p:spPr>
          <a:xfrm>
            <a:off x="12820454" y="7682845"/>
            <a:ext cx="1809946" cy="546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88DC3A-83C4-7400-511F-8A1E62CAC44D}"/>
              </a:ext>
            </a:extLst>
          </p:cNvPr>
          <p:cNvSpPr txBox="1"/>
          <p:nvPr/>
        </p:nvSpPr>
        <p:spPr>
          <a:xfrm>
            <a:off x="876693" y="1677970"/>
            <a:ext cx="1053916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Sitka Display" pitchFamily="2" charset="0"/>
              </a:rPr>
              <a:t>The World:</a:t>
            </a:r>
            <a:endParaRPr lang="en-US" sz="2000" dirty="0">
              <a:latin typeface="Sitka Display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The intersection, roads, and cars are the “world” of the game.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We build this world using SUMO.</a:t>
            </a:r>
          </a:p>
          <a:p>
            <a:pPr lvl="1"/>
            <a:endParaRPr lang="en-US" sz="2000" dirty="0">
              <a:latin typeface="Sitka Display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Sitka Display" pitchFamily="2" charset="0"/>
              </a:rPr>
              <a:t>The Brain:</a:t>
            </a:r>
            <a:endParaRPr lang="en-US" sz="2000" dirty="0">
              <a:latin typeface="Sitka Display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The traffic light needs a “brain” to make smart decisions.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Instead of a fixed timer, this brain will look at the traffic and decide which way should get the green light.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We will build this brain using a Python script.</a:t>
            </a:r>
          </a:p>
          <a:p>
            <a:pPr lvl="1"/>
            <a:endParaRPr lang="en-US" sz="2000" dirty="0">
              <a:latin typeface="Sitka Display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Sitka Display" pitchFamily="2" charset="0"/>
              </a:rPr>
              <a:t>The Connection:</a:t>
            </a:r>
            <a:endParaRPr lang="en-US" sz="2000" dirty="0">
              <a:latin typeface="Sitka Display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We need a way for the Python brain to talk to the SUMO world.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This connection is made possible by </a:t>
            </a:r>
            <a:r>
              <a:rPr lang="en-US" sz="2000" dirty="0" err="1">
                <a:latin typeface="Sitka Display" pitchFamily="2" charset="0"/>
              </a:rPr>
              <a:t>TraCI</a:t>
            </a:r>
            <a:r>
              <a:rPr lang="en-US" sz="2000" dirty="0">
                <a:latin typeface="Sitka Display" pitchFamily="2" charset="0"/>
              </a:rPr>
              <a:t>, like a radio that lets our script: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itka Display" pitchFamily="2" charset="0"/>
              </a:rPr>
              <a:t>Get info from the simulation (“how many cars are waiting?”)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itka Display" pitchFamily="2" charset="0"/>
              </a:rPr>
              <a:t>Send commands (“change the light to green!”)</a:t>
            </a:r>
          </a:p>
          <a:p>
            <a:pPr lvl="2"/>
            <a:endParaRPr lang="en-US" sz="2000" dirty="0">
              <a:latin typeface="Sitka Display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>
                <a:latin typeface="Sitka Display" pitchFamily="2" charset="0"/>
              </a:rPr>
              <a:t>We will build this in three parts:</a:t>
            </a:r>
            <a:endParaRPr lang="en-US" sz="2000" dirty="0">
              <a:latin typeface="Sitka Display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Building the Simulation World (Using SUMO Files)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Creating the “Longest Queue First” Brain (Python Script)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Sitka Display" pitchFamily="2" charset="0"/>
              </a:rPr>
              <a:t>Connecting the Brain to the World and Running the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7619C-0550-0C93-2DEA-CCFEBD11F366}"/>
              </a:ext>
            </a:extLst>
          </p:cNvPr>
          <p:cNvSpPr txBox="1"/>
          <p:nvPr/>
        </p:nvSpPr>
        <p:spPr>
          <a:xfrm>
            <a:off x="876692" y="263951"/>
            <a:ext cx="10237509" cy="146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50" b="1" dirty="0">
                <a:latin typeface="Platypi Medium" panose="020B0604020202020204" charset="0"/>
                <a:cs typeface="Platypi Medium" panose="020B0604020202020204" charset="0"/>
              </a:rPr>
              <a:t>The Big Picture: What We Are Building</a:t>
            </a:r>
          </a:p>
          <a:p>
            <a:endParaRPr lang="en-US" b="1" dirty="0">
              <a:latin typeface="Platypi Medium" panose="020B0604020202020204" charset="0"/>
              <a:cs typeface="Platypi Medium" panose="020B0604020202020204" charset="0"/>
            </a:endParaRPr>
          </a:p>
          <a:p>
            <a:r>
              <a:rPr lang="en-US" b="1" dirty="0">
                <a:latin typeface="Platypi Medium" panose="020B0604020202020204" charset="0"/>
                <a:cs typeface="Platypi Medium" panose="020B0604020202020204" charset="0"/>
              </a:rPr>
              <a:t>Intro:</a:t>
            </a:r>
            <a:r>
              <a:rPr lang="en-US" dirty="0">
                <a:latin typeface="Platypi Medium" panose="020B0604020202020204" charset="0"/>
                <a:cs typeface="Platypi Medium" panose="020B0604020202020204" charset="0"/>
              </a:rPr>
              <a:t> Imagine your traffic intersection is a video game.</a:t>
            </a:r>
          </a:p>
          <a:p>
            <a:endParaRPr lang="en-IN" dirty="0">
              <a:latin typeface="Platypi Medium" panose="020B0604020202020204" charset="0"/>
              <a:cs typeface="Platypi Medium" panose="020B060402020202020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3F52A9-4EFF-F15D-D3ED-499159AB39CC}"/>
              </a:ext>
            </a:extLst>
          </p:cNvPr>
          <p:cNvSpPr/>
          <p:nvPr/>
        </p:nvSpPr>
        <p:spPr>
          <a:xfrm>
            <a:off x="12820454" y="7682845"/>
            <a:ext cx="1809946" cy="546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16219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61B67F-5316-D4AB-E7AB-B9DB6F2F2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650" y="7686675"/>
            <a:ext cx="1809750" cy="54292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5740777-19A8-3EF8-AD32-51804F42482C}"/>
              </a:ext>
            </a:extLst>
          </p:cNvPr>
          <p:cNvSpPr/>
          <p:nvPr/>
        </p:nvSpPr>
        <p:spPr>
          <a:xfrm>
            <a:off x="793790" y="826294"/>
            <a:ext cx="516326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 (Planned)</a:t>
            </a:r>
            <a:endParaRPr lang="en-US" sz="35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8BABBB-12FB-A106-9CA6-EC1C5A47F3A9}"/>
              </a:ext>
            </a:extLst>
          </p:cNvPr>
          <p:cNvSpPr/>
          <p:nvPr/>
        </p:nvSpPr>
        <p:spPr>
          <a:xfrm>
            <a:off x="1158526" y="2540524"/>
            <a:ext cx="3638746" cy="15742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AC821-3345-D129-5784-C47E047FEA2E}"/>
              </a:ext>
            </a:extLst>
          </p:cNvPr>
          <p:cNvSpPr txBox="1"/>
          <p:nvPr/>
        </p:nvSpPr>
        <p:spPr>
          <a:xfrm>
            <a:off x="1309354" y="2647413"/>
            <a:ext cx="333708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Network Creation</a:t>
            </a:r>
          </a:p>
          <a:p>
            <a:pPr algn="ctr"/>
            <a:endParaRPr lang="en-US" b="1" dirty="0">
              <a:solidFill>
                <a:srgbClr val="504C49"/>
              </a:solidFill>
              <a:latin typeface="Sitka Display" pitchFamily="2" charset="0"/>
              <a:ea typeface="Source Serif 4" pitchFamily="34" charset="-122"/>
              <a:cs typeface="Source Serif 4" pitchFamily="34" charset="-120"/>
            </a:endParaRPr>
          </a:p>
          <a:p>
            <a:r>
              <a:rPr lang="en-US" sz="16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Develop a detailed 4-way intersection in SUMO, including multiple lanes and proper signal configurations.</a:t>
            </a:r>
            <a:endParaRPr lang="en-US" sz="1600" dirty="0">
              <a:latin typeface="Sitka Display" pitchFamily="2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7C720C-8451-DED8-5818-EE10BEE26EFF}"/>
              </a:ext>
            </a:extLst>
          </p:cNvPr>
          <p:cNvSpPr/>
          <p:nvPr/>
        </p:nvSpPr>
        <p:spPr>
          <a:xfrm>
            <a:off x="5364452" y="2540524"/>
            <a:ext cx="3638746" cy="15742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5CD08-94B6-516B-B256-9173B50A4E21}"/>
              </a:ext>
            </a:extLst>
          </p:cNvPr>
          <p:cNvSpPr txBox="1"/>
          <p:nvPr/>
        </p:nvSpPr>
        <p:spPr>
          <a:xfrm>
            <a:off x="5449293" y="2549951"/>
            <a:ext cx="3469064" cy="1574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Route File Creation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6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Define realistic vehicle flow patterns with varying turn probabilities to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6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simulate dynamic traffic demands.</a:t>
            </a:r>
            <a:endParaRPr lang="en-US" sz="1600" dirty="0">
              <a:latin typeface="Sitka Display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936ACC-92F6-7C3D-3F8D-9CFF695F692F}"/>
              </a:ext>
            </a:extLst>
          </p:cNvPr>
          <p:cNvSpPr/>
          <p:nvPr/>
        </p:nvSpPr>
        <p:spPr>
          <a:xfrm>
            <a:off x="9787194" y="2549951"/>
            <a:ext cx="3638746" cy="15742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956805-3D73-63BD-58A0-56976AA3A999}"/>
              </a:ext>
            </a:extLst>
          </p:cNvPr>
          <p:cNvSpPr txBox="1"/>
          <p:nvPr/>
        </p:nvSpPr>
        <p:spPr>
          <a:xfrm>
            <a:off x="9956876" y="2549951"/>
            <a:ext cx="3337089" cy="1856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Heuristic Model Implementation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6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Program the Longest Queue First (LQF) algorithm to establish a robust baseline control strategy.</a:t>
            </a:r>
            <a:endParaRPr lang="en-US" sz="1600" dirty="0">
              <a:latin typeface="Sitka Display" pitchFamily="2" charset="0"/>
            </a:endParaRPr>
          </a:p>
          <a:p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2DBDD2-10D0-5346-C387-21159EDF43EC}"/>
              </a:ext>
            </a:extLst>
          </p:cNvPr>
          <p:cNvSpPr/>
          <p:nvPr/>
        </p:nvSpPr>
        <p:spPr>
          <a:xfrm>
            <a:off x="9843755" y="4831400"/>
            <a:ext cx="4020165" cy="15742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FF66A5-D0E8-C643-3943-E43E59E819BF}"/>
              </a:ext>
            </a:extLst>
          </p:cNvPr>
          <p:cNvSpPr txBox="1"/>
          <p:nvPr/>
        </p:nvSpPr>
        <p:spPr>
          <a:xfrm>
            <a:off x="9787193" y="4803508"/>
            <a:ext cx="4236982" cy="153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Q-Learning Agent Design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sz="16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Define appropriate states(queue lengths, phase), actions (signal changes),and reward functions (negative waiting </a:t>
            </a:r>
            <a:r>
              <a:rPr lang="en-US" sz="1600" dirty="0" err="1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time,delay</a:t>
            </a:r>
            <a:r>
              <a:rPr lang="en-US" sz="16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) for optimal learning</a:t>
            </a:r>
            <a:endParaRPr lang="en-US" sz="1600" dirty="0">
              <a:latin typeface="Sitka Display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2F3BE6-4682-3A2A-7EAF-A6BBC289CA3F}"/>
              </a:ext>
            </a:extLst>
          </p:cNvPr>
          <p:cNvSpPr/>
          <p:nvPr/>
        </p:nvSpPr>
        <p:spPr>
          <a:xfrm>
            <a:off x="5364452" y="4831400"/>
            <a:ext cx="3638746" cy="15742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74022E-B065-6376-B842-2209F548A370}"/>
              </a:ext>
            </a:extLst>
          </p:cNvPr>
          <p:cNvSpPr txBox="1"/>
          <p:nvPr/>
        </p:nvSpPr>
        <p:spPr>
          <a:xfrm>
            <a:off x="5290792" y="4831401"/>
            <a:ext cx="3786065" cy="1856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Training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Execute multiple simulation episodes to train the Q-learning agent, allowing it to converge on optimal policies.</a:t>
            </a:r>
            <a:endParaRPr lang="en-US" dirty="0">
              <a:latin typeface="Sitka Display" pitchFamily="2" charset="0"/>
            </a:endParaRPr>
          </a:p>
          <a:p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19F9AB-6B84-27E2-8A33-CE4A25BE1DE5}"/>
              </a:ext>
            </a:extLst>
          </p:cNvPr>
          <p:cNvSpPr/>
          <p:nvPr/>
        </p:nvSpPr>
        <p:spPr>
          <a:xfrm>
            <a:off x="746656" y="4831400"/>
            <a:ext cx="4020165" cy="15742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35E4A4-A012-74D1-8964-91F339B64F6C}"/>
              </a:ext>
            </a:extLst>
          </p:cNvPr>
          <p:cNvSpPr txBox="1"/>
          <p:nvPr/>
        </p:nvSpPr>
        <p:spPr>
          <a:xfrm>
            <a:off x="791825" y="4803508"/>
            <a:ext cx="4236982" cy="153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  <a:buSzPct val="100000"/>
            </a:pPr>
            <a:r>
              <a:rPr lang="en-US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Evaluation</a:t>
            </a:r>
          </a:p>
          <a:p>
            <a:pPr>
              <a:lnSpc>
                <a:spcPts val="2850"/>
              </a:lnSpc>
              <a:buSzPct val="100000"/>
            </a:pPr>
            <a:r>
              <a:rPr lang="en-US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Quantitatively compare the performance metrics of the Q-learning agent and LQF heuristic against fixed-time signaling.</a:t>
            </a:r>
            <a:endParaRPr lang="en-US" dirty="0">
              <a:latin typeface="Sitka Display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801B43-22A0-590A-6E5E-DECE8CA1ED72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4797272" y="3327662"/>
            <a:ext cx="567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E3EF21-66BF-E83C-72BA-925E44F98F6C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9003198" y="3327662"/>
            <a:ext cx="783996" cy="9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8085CA-81AF-CA31-7085-A1961E1EDA0D}"/>
              </a:ext>
            </a:extLst>
          </p:cNvPr>
          <p:cNvCxnSpPr>
            <a:cxnSpLocks/>
          </p:cNvCxnSpPr>
          <p:nvPr/>
        </p:nvCxnSpPr>
        <p:spPr>
          <a:xfrm flipH="1">
            <a:off x="9003198" y="5570897"/>
            <a:ext cx="854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1B7213-E99B-FDCB-6B16-79DE74E68021}"/>
              </a:ext>
            </a:extLst>
          </p:cNvPr>
          <p:cNvCxnSpPr>
            <a:cxnSpLocks/>
          </p:cNvCxnSpPr>
          <p:nvPr/>
        </p:nvCxnSpPr>
        <p:spPr>
          <a:xfrm flipH="1">
            <a:off x="4776456" y="5590645"/>
            <a:ext cx="587996" cy="10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FD7E783-A8C9-7EE6-AC5C-93555BD6F8E6}"/>
              </a:ext>
            </a:extLst>
          </p:cNvPr>
          <p:cNvCxnSpPr/>
          <p:nvPr/>
        </p:nvCxnSpPr>
        <p:spPr>
          <a:xfrm>
            <a:off x="11544926" y="4124227"/>
            <a:ext cx="0" cy="679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47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dynamic traffic signal scheduling system based on improved greedy  algorithm | PLOS One">
            <a:extLst>
              <a:ext uri="{FF2B5EF4-FFF2-40B4-BE49-F238E27FC236}">
                <a16:creationId xmlns:a16="http://schemas.microsoft.com/office/drawing/2014/main" id="{A35F4FA8-30B2-5DCD-E6A7-4A756C87C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259" y="2395283"/>
            <a:ext cx="5425962" cy="384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/>
          <p:cNvSpPr/>
          <p:nvPr/>
        </p:nvSpPr>
        <p:spPr>
          <a:xfrm>
            <a:off x="793790" y="1000383"/>
            <a:ext cx="983980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Heuristic Model – Longest Queue First (LQF)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228175" y="2364131"/>
            <a:ext cx="93766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Concept: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Prioritizes the traffic approach with the highest number of waiting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     vehicles by granting it a green light.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8172" y="3221914"/>
            <a:ext cx="87480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Steps: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Continuously measures queue lengths for all approaches, identifies the longest queue, switches the traffic signal to green for that approach, and repeats the process after a predefined minimum green time.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179" y="4442599"/>
            <a:ext cx="10405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Advantages: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Simple to implement, requires no prior training, and offers quick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     adaptability to sudden traffic changes.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28173" y="5277079"/>
            <a:ext cx="874808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Limitations: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Can make myopic (short-sighted) decisions, may lead to starvation of less congested approaches, and can cause frequent signal switching which may increase overall delay in some scenarios.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179" y="6474461"/>
            <a:ext cx="104054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Role in Project: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Serves as a vital practical baseline for evaluating the superior performance of the Q-learning approach under various traffic conditions.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3B25D9-80FE-8333-B2E5-7A1DE24ACE4F}"/>
              </a:ext>
            </a:extLst>
          </p:cNvPr>
          <p:cNvSpPr/>
          <p:nvPr/>
        </p:nvSpPr>
        <p:spPr>
          <a:xfrm>
            <a:off x="12820454" y="7682845"/>
            <a:ext cx="1809946" cy="546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>
              <a:latin typeface="Sitka Display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294C7B-1591-8A59-E122-48593E17E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0650" y="7686675"/>
            <a:ext cx="1809750" cy="542925"/>
          </a:xfrm>
          <a:prstGeom prst="rect">
            <a:avLst/>
          </a:prstGeom>
        </p:spPr>
      </p:pic>
      <p:pic>
        <p:nvPicPr>
          <p:cNvPr id="4109" name="Picture 13" descr="Q-Learning in Machine Learning">
            <a:extLst>
              <a:ext uri="{FF2B5EF4-FFF2-40B4-BE49-F238E27FC236}">
                <a16:creationId xmlns:a16="http://schemas.microsoft.com/office/drawing/2014/main" id="{A3197A38-421C-DD4F-29FC-CC666F839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272" y="1793598"/>
            <a:ext cx="699135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7D8EE0-1912-91DD-BE62-9F1B25EA2302}"/>
              </a:ext>
            </a:extLst>
          </p:cNvPr>
          <p:cNvSpPr txBox="1"/>
          <p:nvPr/>
        </p:nvSpPr>
        <p:spPr>
          <a:xfrm>
            <a:off x="502766" y="1990672"/>
            <a:ext cx="758229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itka Display" pitchFamily="2" charset="0"/>
              </a:rPr>
              <a:t>Definition:</a:t>
            </a:r>
            <a:r>
              <a:rPr lang="en-US" altLang="en-US" sz="2000" dirty="0">
                <a:latin typeface="Sitka Display" pitchFamily="2" charset="0"/>
              </a:rPr>
              <a:t>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Sitka Display" pitchFamily="2" charset="0"/>
              </a:rPr>
              <a:t>Q-learning is a reinforcement learning algorithm used to train agents to make decisions through trial and error.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Sitka Display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itka Display" pitchFamily="2" charset="0"/>
              </a:rPr>
              <a:t>Goal:</a:t>
            </a:r>
            <a:endParaRPr lang="en-US" altLang="en-US" sz="2000" dirty="0">
              <a:latin typeface="Sitka Display" pitchFamily="2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Sitka Display" pitchFamily="2" charset="0"/>
              </a:rPr>
              <a:t>Learn the best action to take in each situation to maximize rewards over time.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Sitka Display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Sitka Display" pitchFamily="2" charset="0"/>
              </a:rPr>
              <a:t>Key Idea:</a:t>
            </a:r>
            <a:r>
              <a:rPr lang="en-US" altLang="en-US" sz="2000" dirty="0">
                <a:latin typeface="Sitka Display" pitchFamily="2" charset="0"/>
              </a:rPr>
              <a:t>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Sitka Display" pitchFamily="2" charset="0"/>
              </a:rPr>
              <a:t>The agent updates a </a:t>
            </a:r>
            <a:r>
              <a:rPr lang="en-US" altLang="en-US" sz="2000" b="1" dirty="0">
                <a:latin typeface="Sitka Display" pitchFamily="2" charset="0"/>
              </a:rPr>
              <a:t>Q-table</a:t>
            </a:r>
            <a:r>
              <a:rPr lang="en-US" altLang="en-US" sz="2000" dirty="0">
                <a:latin typeface="Sitka Display" pitchFamily="2" charset="0"/>
              </a:rPr>
              <a:t> that stores values for each state-action pair.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7402A0-8D31-82F8-FA75-399E1BD35C58}"/>
              </a:ext>
            </a:extLst>
          </p:cNvPr>
          <p:cNvSpPr txBox="1"/>
          <p:nvPr/>
        </p:nvSpPr>
        <p:spPr>
          <a:xfrm>
            <a:off x="769857" y="387077"/>
            <a:ext cx="7315200" cy="60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Q-Learning Approach</a:t>
            </a:r>
            <a:endParaRPr lang="en-US" sz="3350" dirty="0"/>
          </a:p>
        </p:txBody>
      </p:sp>
    </p:spTree>
    <p:extLst>
      <p:ext uri="{BB962C8B-B14F-4D97-AF65-F5344CB8AC3E}">
        <p14:creationId xmlns:p14="http://schemas.microsoft.com/office/powerpoint/2010/main" val="1020891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932" y="621863"/>
            <a:ext cx="4519255" cy="536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Q-Learning Approach</a:t>
            </a:r>
            <a:endParaRPr lang="en-US" sz="33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892E3E-B142-8322-E7BD-A0B8844B1C04}"/>
              </a:ext>
            </a:extLst>
          </p:cNvPr>
          <p:cNvSpPr/>
          <p:nvPr/>
        </p:nvSpPr>
        <p:spPr>
          <a:xfrm>
            <a:off x="12820454" y="7682845"/>
            <a:ext cx="1809946" cy="546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Sitka Display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AF378A-05CB-4308-7126-3C9A12EEC942}"/>
              </a:ext>
            </a:extLst>
          </p:cNvPr>
          <p:cNvSpPr txBox="1"/>
          <p:nvPr/>
        </p:nvSpPr>
        <p:spPr>
          <a:xfrm>
            <a:off x="189990" y="1612404"/>
            <a:ext cx="73152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Sitka Display" pitchFamily="2" charset="0"/>
              </a:rPr>
              <a:t>How the Reward Function and Q-Table Work Together:</a:t>
            </a:r>
          </a:p>
          <a:p>
            <a:pPr>
              <a:buNone/>
            </a:pPr>
            <a:endParaRPr lang="en-US" sz="2000" dirty="0">
              <a:latin typeface="Sitka Display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Sitka Display" pitchFamily="2" charset="0"/>
              </a:rPr>
              <a:t>The </a:t>
            </a:r>
            <a:r>
              <a:rPr lang="en-US" sz="2000" b="1" dirty="0">
                <a:latin typeface="Sitka Display" pitchFamily="2" charset="0"/>
              </a:rPr>
              <a:t>Q-Table</a:t>
            </a:r>
            <a:r>
              <a:rPr lang="en-US" sz="2000" dirty="0">
                <a:latin typeface="Sitka Display" pitchFamily="2" charset="0"/>
              </a:rPr>
              <a:t> stores the agent’s knowledge about which action is best in each possible situation. It acts as a memory, mapping </a:t>
            </a:r>
            <a:r>
              <a:rPr lang="en-US" sz="2000" i="1" dirty="0">
                <a:latin typeface="Sitka Display" pitchFamily="2" charset="0"/>
              </a:rPr>
              <a:t>state–action</a:t>
            </a:r>
            <a:r>
              <a:rPr lang="en-US" sz="2000" dirty="0">
                <a:latin typeface="Sitka Display" pitchFamily="2" charset="0"/>
              </a:rPr>
              <a:t> pairs to numerical values (Q-values) that represent the expected future reward for taking that action in that state.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Sitka Display" pitchFamily="2" charset="0"/>
              </a:rPr>
              <a:t>The </a:t>
            </a:r>
            <a:r>
              <a:rPr lang="en-US" sz="2000" b="1" dirty="0">
                <a:latin typeface="Sitka Display" pitchFamily="2" charset="0"/>
              </a:rPr>
              <a:t>Reward Function</a:t>
            </a:r>
            <a:r>
              <a:rPr lang="en-US" sz="2000" dirty="0">
                <a:latin typeface="Sitka Display" pitchFamily="2" charset="0"/>
              </a:rPr>
              <a:t> provides immediate feedback after the agent takes an action. A positive reward encourages repeating similar actions in the future, while a negative reward discourages them.</a:t>
            </a:r>
          </a:p>
          <a:p>
            <a:endParaRPr lang="en-US" sz="2000" dirty="0">
              <a:latin typeface="Sitka Display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Sitka Display" pitchFamily="2" charset="0"/>
              </a:rPr>
              <a:t>Process:</a:t>
            </a:r>
            <a:endParaRPr lang="en-US" sz="2400" dirty="0">
              <a:latin typeface="Sitka Display" pitchFamily="2" charset="0"/>
            </a:endParaRP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Sitka Display" pitchFamily="2" charset="0"/>
              </a:rPr>
              <a:t>The agent takes an action in the current state.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Sitka Display" pitchFamily="2" charset="0"/>
              </a:rPr>
              <a:t>The environment returns a reward based on the reward function.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Sitka Display" pitchFamily="2" charset="0"/>
              </a:rPr>
              <a:t>The agent updates the corresponding Q-value in the Q-Table using this reward.</a:t>
            </a:r>
          </a:p>
          <a:p>
            <a:pPr lvl="1">
              <a:buFont typeface="+mj-lt"/>
              <a:buAutoNum type="arabicPeriod"/>
            </a:pPr>
            <a:r>
              <a:rPr lang="en-US" sz="2000" dirty="0">
                <a:latin typeface="Sitka Display" pitchFamily="2" charset="0"/>
              </a:rPr>
              <a:t>Over time, as this process repeats, the Q-Table is refined to guide the agent toward the most rewarding actions.</a:t>
            </a:r>
          </a:p>
          <a:p>
            <a:pPr lvl="1"/>
            <a:r>
              <a:rPr lang="en-US" sz="2000" dirty="0">
                <a:latin typeface="Sitka Display" pitchFamily="2" charset="0"/>
              </a:rPr>
              <a:t>In essence, the reward function acts as the </a:t>
            </a:r>
            <a:r>
              <a:rPr lang="en-US" sz="2000" b="1" dirty="0">
                <a:latin typeface="Sitka Display" pitchFamily="2" charset="0"/>
              </a:rPr>
              <a:t>teacher</a:t>
            </a:r>
            <a:r>
              <a:rPr lang="en-US" sz="2000" dirty="0">
                <a:latin typeface="Sitka Display" pitchFamily="2" charset="0"/>
              </a:rPr>
              <a:t> giving feedback, while the Q-Table is the </a:t>
            </a:r>
            <a:r>
              <a:rPr lang="en-US" sz="2000" b="1" dirty="0">
                <a:latin typeface="Sitka Display" pitchFamily="2" charset="0"/>
              </a:rPr>
              <a:t>notebook</a:t>
            </a:r>
            <a:r>
              <a:rPr lang="en-US" sz="2000" dirty="0">
                <a:latin typeface="Sitka Display" pitchFamily="2" charset="0"/>
              </a:rPr>
              <a:t> where the agent records and improves its strategy.</a:t>
            </a:r>
          </a:p>
        </p:txBody>
      </p:sp>
      <p:pic>
        <p:nvPicPr>
          <p:cNvPr id="5122" name="Picture 2" descr="Understanding Q-learning: How a Reward Is All You Need | Spice.ai OSS">
            <a:extLst>
              <a:ext uri="{FF2B5EF4-FFF2-40B4-BE49-F238E27FC236}">
                <a16:creationId xmlns:a16="http://schemas.microsoft.com/office/drawing/2014/main" id="{F26729EC-416C-CDE6-20C6-10BD7EA6B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190" y="2050330"/>
            <a:ext cx="7313745" cy="398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75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Expected Outcomes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2779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Reduced Average Waiting Time: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Demonstrable decrease in vehicle waiting times at intersections under adaptive control compared to fixed-time signals.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1" y="30830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Adaptive Signal Control: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Successful implementation of a traffic control system that dynamically responds to real-time traffic flow, optimizing green light allocation.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1" y="388819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Reinforcement Learning Demonstration: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A practical and effective application of reinforcement learning principles in a complex, real-world engineering problem (traffic management).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1" y="469329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Comprehensive Performance Data:</a:t>
            </a:r>
            <a:r>
              <a:rPr lang="en-US" sz="2000" dirty="0">
                <a:solidFill>
                  <a:srgbClr val="504C49"/>
                </a:solidFill>
                <a:latin typeface="Sitka Display" pitchFamily="2" charset="0"/>
                <a:ea typeface="Source Serif 4" pitchFamily="34" charset="-122"/>
                <a:cs typeface="Source Serif 4" pitchFamily="34" charset="-120"/>
              </a:rPr>
              <a:t> Quantitative results showcasing the efficiency improvements achieved by both the Q-learning and heuristic models.</a:t>
            </a:r>
            <a:endParaRPr lang="en-US" sz="2000" dirty="0">
              <a:latin typeface="Sitka Display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DEE28B-3A0F-4298-B3E5-79D5DCECAE8D}"/>
              </a:ext>
            </a:extLst>
          </p:cNvPr>
          <p:cNvSpPr/>
          <p:nvPr/>
        </p:nvSpPr>
        <p:spPr>
          <a:xfrm>
            <a:off x="12820454" y="7682845"/>
            <a:ext cx="1809946" cy="546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Sitka Display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CF41EA-E7B6-496F-4D0F-C581C1F33D14}"/>
              </a:ext>
            </a:extLst>
          </p:cNvPr>
          <p:cNvSpPr txBox="1"/>
          <p:nvPr/>
        </p:nvSpPr>
        <p:spPr>
          <a:xfrm>
            <a:off x="5005632" y="3653135"/>
            <a:ext cx="4619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latin typeface="Sitka Display" pitchFamily="2" charset="0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0CEE1C-88C7-B9CA-3960-8C76BDEA81F8}"/>
              </a:ext>
            </a:extLst>
          </p:cNvPr>
          <p:cNvSpPr/>
          <p:nvPr/>
        </p:nvSpPr>
        <p:spPr>
          <a:xfrm>
            <a:off x="12820454" y="7682845"/>
            <a:ext cx="1809946" cy="5467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Sitka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591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970</Words>
  <Application>Microsoft Office PowerPoint</Application>
  <PresentationFormat>Custom</PresentationFormat>
  <Paragraphs>96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Wingdings</vt:lpstr>
      <vt:lpstr>Platypi Medium</vt:lpstr>
      <vt:lpstr>Sitka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Yashwanth Balamurugan</dc:creator>
  <cp:lastModifiedBy>MAHA KISORE</cp:lastModifiedBy>
  <cp:revision>5</cp:revision>
  <dcterms:created xsi:type="dcterms:W3CDTF">2025-08-10T15:32:44Z</dcterms:created>
  <dcterms:modified xsi:type="dcterms:W3CDTF">2025-08-11T02:53:58Z</dcterms:modified>
</cp:coreProperties>
</file>